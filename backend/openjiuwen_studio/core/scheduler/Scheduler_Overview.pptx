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98448"/>
          </a:xfrm>
          <a:prstGeom prst="rect">
            <a:avLst/>
          </a:prstGeom>
          <a:solidFill>
            <a:srgbClr val="0810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73048"/>
            <a:ext cx="12188952" cy="31750"/>
          </a:xfrm>
          <a:prstGeom prst="rect">
            <a:avLst/>
          </a:prstGeom>
          <a:solidFill>
            <a:srgbClr val="4FC3F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Scheduled Triggers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FC3F7"/>
                </a:solidFill>
                <a:latin typeface="Calibri"/>
              </a:rPr>
              <a:t>Native automation for agents and workflows — fire on a cron schedule, an inbound webhook POST, or when a monitored URL's content changes; no human action required.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38988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THE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645920"/>
            <a:ext cx="5577840" cy="19050"/>
          </a:xfrm>
          <a:prstGeom prst="rect">
            <a:avLst/>
          </a:prstGeom>
          <a:solidFill>
            <a:srgbClr val="FF6B6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719072"/>
            <a:ext cx="5577840" cy="2916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Calibri"/>
              </a:rPr>
              <a:t>• Every execution requires a human to open the browser and press a button — recurring tasks cannot be automated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Calibri"/>
              </a:rPr>
              <a:t>• Agents that should react to external events (GitHub pushes, Stripe payments, Zapier actions) have no inbound interface to receive those events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Calibri"/>
              </a:rPr>
              <a:t>• Workflows that should run when a monitored web page or feed changes cannot detect that change automatically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Calibri"/>
              </a:rPr>
              <a:t>• Users who want automation must build their own schedulers, write polling scripts, and call the OpenJiuwen API manually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Calibri"/>
              </a:rPr>
              <a:t>• AI-driven pipelines are isolated from the real-time external world, limiting the platform's value to interactive use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138988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9DB7C"/>
                </a:solidFill>
                <a:latin typeface="Calibri"/>
              </a:rPr>
              <a:t>THE 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3368" y="1645920"/>
            <a:ext cx="5577840" cy="19050"/>
          </a:xfrm>
          <a:prstGeom prst="rect">
            <a:avLst/>
          </a:prstGeom>
          <a:solidFill>
            <a:srgbClr val="69DB7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719072"/>
            <a:ext cx="5577840" cy="2916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Calibri"/>
              </a:rPr>
              <a:t>• Cron triggers — fire any agent or workflow on a standard 5-field UTC cron schedule via an embedded APScheduler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Calibri"/>
              </a:rPr>
              <a:t>• Webhook triggers — each trigger gets a unique inbound URL; external systems POST to it and execution fires immediately in the background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Calibri"/>
              </a:rPr>
              <a:t>• Polling triggers — APScheduler polls a URL at a configurable interval and fires the target only when content changes (SHA-256 hash comparison)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Calibri"/>
              </a:rPr>
              <a:t>• Full execution log per fire — status, duration, inputs snapshot, outputs, and the source (scheduler / webhook / poll / manual)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900">
                <a:solidFill>
                  <a:srgbClr val="FFFFFF"/>
                </a:solidFill>
                <a:latin typeface="Calibri"/>
              </a:rPr>
              <a:t>• DB-backed persistence — scheduler state is rebuilt from the database on every startup, so triggers survive restarts and deployments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" y="4754880"/>
            <a:ext cx="2697480" cy="1719072"/>
          </a:xfrm>
          <a:prstGeom prst="rect">
            <a:avLst/>
          </a:prstGeom>
          <a:solidFill>
            <a:srgbClr val="1A2E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" y="493776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4FC3F7"/>
                </a:solidFill>
                <a:latin typeface="Calibri"/>
              </a:rPr>
              <a:t>~10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" y="5742432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New Files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4700" y="4754880"/>
            <a:ext cx="2697480" cy="1719072"/>
          </a:xfrm>
          <a:prstGeom prst="rect">
            <a:avLst/>
          </a:prstGeom>
          <a:solidFill>
            <a:srgbClr val="1A2E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4700" y="493776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4FC3F7"/>
                </a:solidFill>
                <a:latin typeface="Calibri"/>
              </a:rPr>
              <a:t>~800+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4700" y="5742432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Lines of 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6772" y="4754880"/>
            <a:ext cx="2697480" cy="1719072"/>
          </a:xfrm>
          <a:prstGeom prst="rect">
            <a:avLst/>
          </a:prstGeom>
          <a:solidFill>
            <a:srgbClr val="1A2E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6772" y="493776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4FC3F7"/>
                </a:solidFill>
                <a:latin typeface="Calibri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6772" y="5742432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New REST Endpoints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38844" y="4754880"/>
            <a:ext cx="2697480" cy="1719072"/>
          </a:xfrm>
          <a:prstGeom prst="rect">
            <a:avLst/>
          </a:prstGeom>
          <a:solidFill>
            <a:srgbClr val="1A2E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8844" y="493776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4FC3F7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8844" y="5742432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New DB Tables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86032" y="6565392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C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98448"/>
          </a:xfrm>
          <a:prstGeom prst="rect">
            <a:avLst/>
          </a:prstGeom>
          <a:solidFill>
            <a:srgbClr val="0810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73048"/>
            <a:ext cx="12188952" cy="31750"/>
          </a:xfrm>
          <a:prstGeom prst="rect">
            <a:avLst/>
          </a:prstGeom>
          <a:solidFill>
            <a:srgbClr val="4FC3F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Implementation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FC3F7"/>
                </a:solidFill>
                <a:latin typeface="Calibri"/>
              </a:rPr>
              <a:t>Scheduled Triggers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389888"/>
            <a:ext cx="5792724" cy="2551176"/>
          </a:xfrm>
          <a:prstGeom prst="rect">
            <a:avLst/>
          </a:prstGeom>
          <a:solidFill>
            <a:srgbClr val="1A2E45"/>
          </a:solidFill>
          <a:ln w="1524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499616"/>
            <a:ext cx="55732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  <a:latin typeface="Calibri"/>
              </a:rPr>
              <a:t>Trigger Types &amp; Execution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1682496"/>
            <a:ext cx="5573268" cy="15240"/>
          </a:xfrm>
          <a:prstGeom prst="rect">
            <a:avLst/>
          </a:prstGeom>
          <a:solidFill>
            <a:srgbClr val="4FC3F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1737360"/>
            <a:ext cx="5573268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80">
                <a:solidFill>
                  <a:srgbClr val="FFFFFF"/>
                </a:solidFill>
                <a:latin typeface="Calibri"/>
              </a:rPr>
              <a:t>• All 3 trigger types (Cron · Webhook · Polling) converge on a single entry point: execute_trigger_job(trigger_id, fired_by)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80">
                <a:solidFill>
                  <a:srgbClr val="FFFFFF"/>
                </a:solidFill>
                <a:latin typeface="Calibri"/>
              </a:rPr>
              <a:t>• Cron: APScheduler fires CronTrigger at UTC schedule → execute_trigger_job → _fire_execution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80">
                <a:solidFill>
                  <a:srgbClr val="FFFFFF"/>
                </a:solidFill>
                <a:latin typeface="Calibri"/>
              </a:rPr>
              <a:t>• Webhook: external POST → FastAPI inbound router → HMAC verify (optional) → 200 returned immediately → BackgroundTasks fires execute_trigger_job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80">
                <a:solidFill>
                  <a:srgbClr val="FFFFFF"/>
                </a:solidFill>
                <a:latin typeface="Calibri"/>
              </a:rPr>
              <a:t>• Polling: APScheduler fires on interval → fetch URL (15 s timeout) → SHA-256 hash (10 MB cap) → compare to last_seen_hash → fire on change, write "skipped" log on no-change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80">
                <a:solidFill>
                  <a:srgbClr val="FFFFFF"/>
                </a:solidFill>
                <a:latin typeface="Calibri"/>
              </a:rPr>
              <a:t>• Each trigger stores an input_payload forwarded to every execution; polling adds _poll_hash as an extra input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5060" y="1389888"/>
            <a:ext cx="5792724" cy="2551176"/>
          </a:xfrm>
          <a:prstGeom prst="rect">
            <a:avLst/>
          </a:prstGeom>
          <a:solidFill>
            <a:srgbClr val="1A2E45"/>
          </a:solidFill>
          <a:ln w="1524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4788" y="1499616"/>
            <a:ext cx="55732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  <a:latin typeface="Calibri"/>
              </a:rPr>
              <a:t>Scheduler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4788" y="1682496"/>
            <a:ext cx="5573268" cy="15240"/>
          </a:xfrm>
          <a:prstGeom prst="rect">
            <a:avLst/>
          </a:prstGeom>
          <a:solidFill>
            <a:srgbClr val="4FC3F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4788" y="1737360"/>
            <a:ext cx="5573268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80">
                <a:solidFill>
                  <a:srgbClr val="FFFFFF"/>
                </a:solidFill>
                <a:latin typeface="Calibri"/>
              </a:rPr>
              <a:t>• AsyncIOScheduler runs in-process with the FastAPI event loop — no separate process or service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80">
                <a:solidFill>
                  <a:srgbClr val="FFFFFF"/>
                </a:solidFill>
                <a:latin typeface="Calibri"/>
              </a:rPr>
              <a:t>• SQLAlchemyJobStore persists APScheduler state in the existing DB (apscheduler_jobs table auto-created)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80">
                <a:solidFill>
                  <a:srgbClr val="FFFFFF"/>
                </a:solidFill>
                <a:latin typeface="Calibri"/>
              </a:rPr>
              <a:t>• DB is the source of truth — on every startup, sync_triggers_to_scheduler() removes all APScheduler jobs and rebuilds from trigger table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80">
                <a:solidFill>
                  <a:srgbClr val="FFFFFF"/>
                </a:solidFill>
                <a:latin typeface="Calibri"/>
              </a:rPr>
              <a:t>• coalesce=True: if the server was down and missed N fires, APScheduler fires exactly once on restart (not N times)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80">
                <a:solidFill>
                  <a:srgbClr val="FFFFFF"/>
                </a:solidFill>
                <a:latin typeface="Calibri"/>
              </a:rPr>
              <a:t>• max_instances=1: the same trigger job never runs concurrently with itself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80">
                <a:solidFill>
                  <a:srgbClr val="FFFFFF"/>
                </a:solidFill>
                <a:latin typeface="Calibri"/>
              </a:rPr>
              <a:t>• misfire_grace_time=86 400 s: missed fires within 24 hours are still caught on the next server start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4142232"/>
            <a:ext cx="5792724" cy="2551176"/>
          </a:xfrm>
          <a:prstGeom prst="rect">
            <a:avLst/>
          </a:prstGeom>
          <a:solidFill>
            <a:srgbClr val="1A2E45"/>
          </a:solidFill>
          <a:ln w="1524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" y="4251960"/>
            <a:ext cx="55732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  <a:latin typeface="Calibri"/>
              </a:rPr>
              <a:t>REST API &amp; Webhook Receiver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434840"/>
            <a:ext cx="5573268" cy="15240"/>
          </a:xfrm>
          <a:prstGeom prst="rect">
            <a:avLst/>
          </a:prstGeom>
          <a:solidFill>
            <a:srgbClr val="4FC3F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" y="4489704"/>
            <a:ext cx="5573268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80">
                <a:solidFill>
                  <a:srgbClr val="FFFFFF"/>
                </a:solidFill>
                <a:latin typeface="Calibri"/>
              </a:rPr>
              <a:t>• 10 JWT-protected endpoints under /api/v1/triggers: create · list · get · update · delete · activate · deactivate · run (manual) · execution_logs · execution_log_detail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80">
                <a:solidFill>
                  <a:srgbClr val="FFFFFF"/>
                </a:solidFill>
                <a:latin typeface="Calibri"/>
              </a:rPr>
              <a:t>• Activate/deactivate registers or removes the APScheduler job in real time — no restart needed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80">
                <a:solidFill>
                  <a:srgbClr val="FFFFFF"/>
                </a:solidFill>
                <a:latin typeface="Calibri"/>
              </a:rPr>
              <a:t>• 2 public (no-auth) endpoints: GET /inbound/{token} (handshake) and POST /inbound/{token} (payload delivery)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80">
                <a:solidFill>
                  <a:srgbClr val="FFFFFF"/>
                </a:solidFill>
                <a:latin typeface="Calibri"/>
              </a:rPr>
              <a:t>• Webhook receiver always returns 200 — unknown tokens also return 200 to prevent token enumeration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80">
                <a:solidFill>
                  <a:srgbClr val="FFFFFF"/>
                </a:solidFill>
                <a:latin typeface="Calibri"/>
              </a:rPr>
              <a:t>• Manual run endpoint fires execute_trigger_job via asyncio.create_task — same code path as APScheduler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5060" y="4142232"/>
            <a:ext cx="5792724" cy="2551176"/>
          </a:xfrm>
          <a:prstGeom prst="rect">
            <a:avLst/>
          </a:prstGeom>
          <a:solidFill>
            <a:srgbClr val="1A2E45"/>
          </a:solidFill>
          <a:ln w="1524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4788" y="4251960"/>
            <a:ext cx="55732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  <a:latin typeface="Calibri"/>
              </a:rPr>
              <a:t>Key Constraints &amp; Security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4788" y="4434840"/>
            <a:ext cx="5573268" cy="15240"/>
          </a:xfrm>
          <a:prstGeom prst="rect">
            <a:avLst/>
          </a:prstGeom>
          <a:solidFill>
            <a:srgbClr val="4FC3F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4788" y="4489704"/>
            <a:ext cx="5573268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80">
                <a:solidFill>
                  <a:srgbClr val="FFFFFF"/>
                </a:solidFill>
                <a:latin typeface="Calibri"/>
              </a:rPr>
              <a:t>• Single scheduler process — multi-worker deployments must ensure only one worker runs the scheduler; webhook triggers are stateless and safe across workers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80">
                <a:solidFill>
                  <a:srgbClr val="FFFFFF"/>
                </a:solidFill>
                <a:latin typeface="Calibri"/>
              </a:rPr>
              <a:t>• No real-time output delivery — results stored in execution log only; post-execution notifications must be built into the agent/workflow itself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80">
                <a:solidFill>
                  <a:srgbClr val="FFFFFF"/>
                </a:solidFill>
                <a:latin typeface="Calibri"/>
              </a:rPr>
              <a:t>• System user — trigger executions run as user_id_str="system_trigger" with role_type="super_user"; space ownership check is bypassed for this identity only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80">
                <a:solidFill>
                  <a:srgbClr val="FFFFFF"/>
                </a:solidFill>
                <a:latin typeface="Calibri"/>
              </a:rPr>
              <a:t>• SSRF risk on polling — poll_url is user-supplied with no URL allowlist; consider restrictions for sensitive deployments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80">
                <a:solidFill>
                  <a:srgbClr val="FFFFFF"/>
                </a:solidFill>
                <a:latin typeface="Calibri"/>
              </a:rPr>
              <a:t>• HMAC-SHA256 webhook verification — GitHub-style X-Hub-Signature-256; timing-safe compare_digest; optional per trigger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86032" y="6565392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C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